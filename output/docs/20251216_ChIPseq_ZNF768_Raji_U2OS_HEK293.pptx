
<file path=[Content_Types].xml><?xml version="1.0" encoding="utf-8"?>
<Types xmlns="http://schemas.openxmlformats.org/package/2006/content-types">
  <Default Extension="glb" ContentType="model/gltf.binary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59" r:id="rId1"/>
  </p:sldMasterIdLst>
  <p:notesMasterIdLst>
    <p:notesMasterId r:id="rId5"/>
  </p:notesMasterIdLst>
  <p:sldIdLst>
    <p:sldId id="1178" r:id="rId2"/>
    <p:sldId id="1545" r:id="rId3"/>
    <p:sldId id="1547" r:id="rId4"/>
  </p:sldIdLst>
  <p:sldSz cx="9144000" cy="5143500" type="screen16x9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tophe Tav" initials="CT" lastIdx="1" clrIdx="0">
    <p:extLst>
      <p:ext uri="{19B8F6BF-5375-455C-9EA6-DF929625EA0E}">
        <p15:presenceInfo xmlns:p15="http://schemas.microsoft.com/office/powerpoint/2012/main" userId="S::chtav1@ulaval.ca::268f96fa-74d2-4e03-9ac9-bd48f12c425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A51F"/>
    <a:srgbClr val="4A6EA3"/>
    <a:srgbClr val="20BF54"/>
    <a:srgbClr val="EA7A5D"/>
    <a:srgbClr val="F3B940"/>
    <a:srgbClr val="3B5BA5"/>
    <a:srgbClr val="E97A5D"/>
    <a:srgbClr val="FFB029"/>
    <a:srgbClr val="3FA743"/>
    <a:srgbClr val="2566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0A7CAA-CCBA-4C50-B6CB-4335B7FA286B}">
  <a:tblStyle styleId="{8E0A7CAA-CCBA-4C50-B6CB-4335B7FA286B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Style à thème 2 - Accentuation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Style à thème 2 - Accentuation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Style à thème 2 - Accentuation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9" autoAdjust="0"/>
    <p:restoredTop sz="90411" autoAdjust="0"/>
  </p:normalViewPr>
  <p:slideViewPr>
    <p:cSldViewPr>
      <p:cViewPr varScale="1">
        <p:scale>
          <a:sx n="153" d="100"/>
          <a:sy n="153" d="100"/>
        </p:scale>
        <p:origin x="456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5" d="100"/>
        <a:sy n="105" d="100"/>
      </p:scale>
      <p:origin x="0" y="0"/>
    </p:cViewPr>
  </p:notesTextViewPr>
  <p:sorterViewPr>
    <p:cViewPr varScale="1">
      <p:scale>
        <a:sx n="93" d="100"/>
        <a:sy n="9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39" cy="446770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857028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fr-CA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73831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82E79-8928-12C9-1CAC-51662E7E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>
            <a:extLst>
              <a:ext uri="{FF2B5EF4-FFF2-40B4-BE49-F238E27FC236}">
                <a16:creationId xmlns:a16="http://schemas.microsoft.com/office/drawing/2014/main" id="{F1AD299D-8D39-1629-2969-0B8D26BD6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9C4C3FE-3725-CEEE-64E5-E88C9DAC1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812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269B5-55BE-4101-7303-181CB6AD4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>
            <a:extLst>
              <a:ext uri="{FF2B5EF4-FFF2-40B4-BE49-F238E27FC236}">
                <a16:creationId xmlns:a16="http://schemas.microsoft.com/office/drawing/2014/main" id="{B2476111-31BA-85B0-D6E3-92282E59B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3683969-326F-7E14-4825-50CCD88F4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79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22222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294667">
              <a:alpha val="64314"/>
            </a:srgbClr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" name="Shape 12"/>
          <p:cNvSpPr/>
          <p:nvPr userDrawn="1"/>
        </p:nvSpPr>
        <p:spPr>
          <a:xfrm flipH="1">
            <a:off x="0" y="3867894"/>
            <a:ext cx="9144000" cy="1275606"/>
          </a:xfrm>
          <a:prstGeom prst="parallelogram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3" name="Shape 13"/>
          <p:cNvSpPr/>
          <p:nvPr/>
        </p:nvSpPr>
        <p:spPr>
          <a:xfrm flipH="1">
            <a:off x="1475656" y="2427734"/>
            <a:ext cx="7833308" cy="45719"/>
          </a:xfrm>
          <a:prstGeom prst="parallelogram">
            <a:avLst>
              <a:gd name="adj" fmla="val 51542"/>
            </a:avLst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1028475" y="0"/>
            <a:ext cx="5238600" cy="1779662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5200" baseline="0"/>
            </a:lvl1pPr>
            <a:lvl2pPr lvl="1">
              <a:spcBef>
                <a:spcPts val="0"/>
              </a:spcBef>
              <a:buSzPct val="100000"/>
              <a:defRPr sz="5200"/>
            </a:lvl2pPr>
            <a:lvl3pPr lvl="2">
              <a:spcBef>
                <a:spcPts val="0"/>
              </a:spcBef>
              <a:buSzPct val="100000"/>
              <a:defRPr sz="5200"/>
            </a:lvl3pPr>
            <a:lvl4pPr lvl="3">
              <a:spcBef>
                <a:spcPts val="0"/>
              </a:spcBef>
              <a:buSzPct val="100000"/>
              <a:defRPr sz="5200"/>
            </a:lvl4pPr>
            <a:lvl5pPr lvl="4">
              <a:spcBef>
                <a:spcPts val="0"/>
              </a:spcBef>
              <a:buSzPct val="100000"/>
              <a:defRPr sz="5200"/>
            </a:lvl5pPr>
            <a:lvl6pPr lvl="5">
              <a:spcBef>
                <a:spcPts val="0"/>
              </a:spcBef>
              <a:buSzPct val="100000"/>
              <a:defRPr sz="5200"/>
            </a:lvl6pPr>
            <a:lvl7pPr lvl="6">
              <a:spcBef>
                <a:spcPts val="0"/>
              </a:spcBef>
              <a:buSzPct val="100000"/>
              <a:defRPr sz="5200"/>
            </a:lvl7pPr>
            <a:lvl8pPr lvl="7">
              <a:spcBef>
                <a:spcPts val="0"/>
              </a:spcBef>
              <a:buSzPct val="100000"/>
              <a:defRPr sz="5200"/>
            </a:lvl8pPr>
            <a:lvl9pPr lvl="8">
              <a:spcBef>
                <a:spcPts val="0"/>
              </a:spcBef>
              <a:buSzPct val="100000"/>
              <a:defRPr sz="5200"/>
            </a:lvl9pPr>
          </a:lstStyle>
          <a:p>
            <a:endParaRPr dirty="0"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-55075" y="-38100"/>
            <a:ext cx="3312625" cy="5214650"/>
          </a:xfrm>
          <a:custGeom>
            <a:avLst/>
            <a:gdLst/>
            <a:ahLst/>
            <a:cxnLst/>
            <a:rect l="0" t="0" r="0" b="0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10" name="Shape 36"/>
          <p:cNvSpPr/>
          <p:nvPr userDrawn="1"/>
        </p:nvSpPr>
        <p:spPr>
          <a:xfrm flipH="1">
            <a:off x="-396552" y="4925850"/>
            <a:ext cx="9756626" cy="217650"/>
          </a:xfrm>
          <a:prstGeom prst="parallelogram">
            <a:avLst>
              <a:gd name="adj" fmla="val 51542"/>
            </a:avLst>
          </a:prstGeom>
          <a:solidFill>
            <a:srgbClr val="FFA8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1" name="Shape 91"/>
          <p:cNvSpPr/>
          <p:nvPr/>
        </p:nvSpPr>
        <p:spPr>
          <a:xfrm flipH="1">
            <a:off x="-903537" y="-20538"/>
            <a:ext cx="1759200" cy="752077"/>
          </a:xfrm>
          <a:prstGeom prst="parallelogram">
            <a:avLst>
              <a:gd name="adj" fmla="val 51542"/>
            </a:avLst>
          </a:prstGeom>
          <a:solidFill>
            <a:srgbClr val="294667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2" name="Shape 92"/>
          <p:cNvSpPr/>
          <p:nvPr/>
        </p:nvSpPr>
        <p:spPr>
          <a:xfrm flipH="1">
            <a:off x="453200" y="-20539"/>
            <a:ext cx="518400" cy="752077"/>
          </a:xfrm>
          <a:prstGeom prst="parallelogram">
            <a:avLst>
              <a:gd name="adj" fmla="val 75009"/>
            </a:avLst>
          </a:prstGeom>
          <a:solidFill>
            <a:srgbClr val="FFA8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7452320" y="4886780"/>
            <a:ext cx="1278614" cy="3061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latin typeface="Calibri" panose="020F0502020204030204"/>
              </a:rPr>
              <a:t>Christophe </a:t>
            </a:r>
            <a:r>
              <a:rPr lang="fr-FR" b="1" dirty="0" err="1">
                <a:latin typeface="Calibri" panose="020F0502020204030204"/>
              </a:rPr>
              <a:t>Tav</a:t>
            </a:r>
            <a:endParaRPr lang="fr-FR" b="1" dirty="0">
              <a:latin typeface="Calibri" panose="020F0502020204030204"/>
            </a:endParaRP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2599265" y="4890754"/>
            <a:ext cx="1999524" cy="3061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latin typeface="Calibri" panose="020F0502020204030204"/>
              </a:rPr>
              <a:t>Rapid </a:t>
            </a:r>
            <a:r>
              <a:rPr lang="fr-FR" b="1" dirty="0" err="1">
                <a:latin typeface="Calibri" panose="020F0502020204030204"/>
              </a:rPr>
              <a:t>fire</a:t>
            </a:r>
            <a:r>
              <a:rPr lang="fr-FR" b="1" dirty="0">
                <a:latin typeface="Calibri" panose="020F0502020204030204"/>
              </a:rPr>
              <a:t> </a:t>
            </a:r>
            <a:r>
              <a:rPr lang="fr-FR" b="1" dirty="0" err="1">
                <a:latin typeface="Calibri" panose="020F0502020204030204"/>
              </a:rPr>
              <a:t>talks</a:t>
            </a:r>
            <a:endParaRPr lang="fr-FR" b="1" dirty="0">
              <a:latin typeface="Calibri" panose="020F0502020204030204"/>
            </a:endParaRPr>
          </a:p>
        </p:txBody>
      </p:sp>
      <p:sp>
        <p:nvSpPr>
          <p:cNvPr id="12" name="Shape 39"/>
          <p:cNvSpPr txBox="1">
            <a:spLocks noGrp="1"/>
          </p:cNvSpPr>
          <p:nvPr>
            <p:ph type="sldNum" idx="12"/>
          </p:nvPr>
        </p:nvSpPr>
        <p:spPr>
          <a:xfrm>
            <a:off x="0" y="-20476"/>
            <a:ext cx="594900" cy="731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‹n°›</a:t>
            </a:fld>
            <a:endParaRPr lang="en" dirty="0"/>
          </a:p>
        </p:txBody>
      </p:sp>
      <p:sp>
        <p:nvSpPr>
          <p:cNvPr id="13" name="Shape 38"/>
          <p:cNvSpPr txBox="1">
            <a:spLocks noGrp="1"/>
          </p:cNvSpPr>
          <p:nvPr>
            <p:ph type="body" idx="1"/>
          </p:nvPr>
        </p:nvSpPr>
        <p:spPr>
          <a:xfrm>
            <a:off x="1104900" y="987575"/>
            <a:ext cx="7581900" cy="3866156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4" name="Date Placeholder 3"/>
          <p:cNvSpPr txBox="1">
            <a:spLocks/>
          </p:cNvSpPr>
          <p:nvPr userDrawn="1"/>
        </p:nvSpPr>
        <p:spPr>
          <a:xfrm>
            <a:off x="1258026" y="4857288"/>
            <a:ext cx="1238253" cy="335632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ctr" defTabSz="914400" rtl="0" eaLnBrk="1" latinLnBrk="0" hangingPunct="1">
              <a:lnSpc>
                <a:spcPct val="150000"/>
              </a:lnSpc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 err="1">
                <a:solidFill>
                  <a:prstClr val="white"/>
                </a:solidFill>
                <a:latin typeface="Calibri" panose="020F0502020204030204"/>
              </a:rPr>
              <a:t>October</a:t>
            </a:r>
            <a:r>
              <a:rPr lang="fr-FR" b="1" dirty="0">
                <a:solidFill>
                  <a:prstClr val="white"/>
                </a:solidFill>
                <a:latin typeface="Calibri" panose="020F0502020204030204"/>
              </a:rPr>
              <a:t> 1</a:t>
            </a:r>
            <a:r>
              <a:rPr lang="fr-FR" b="1" baseline="30000" dirty="0">
                <a:solidFill>
                  <a:prstClr val="white"/>
                </a:solidFill>
                <a:latin typeface="Calibri" panose="020F0502020204030204"/>
              </a:rPr>
              <a:t>tt</a:t>
            </a:r>
            <a:r>
              <a:rPr lang="fr-FR" b="1" dirty="0">
                <a:solidFill>
                  <a:prstClr val="white"/>
                </a:solidFill>
                <a:latin typeface="Calibri" panose="020F0502020204030204"/>
              </a:rPr>
              <a:t>, 2018 </a:t>
            </a:r>
          </a:p>
        </p:txBody>
      </p:sp>
    </p:spTree>
    <p:extLst>
      <p:ext uri="{BB962C8B-B14F-4D97-AF65-F5344CB8AC3E}">
        <p14:creationId xmlns:p14="http://schemas.microsoft.com/office/powerpoint/2010/main" val="4023975262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-55075" y="-38100"/>
            <a:ext cx="3312625" cy="5214650"/>
          </a:xfrm>
          <a:custGeom>
            <a:avLst/>
            <a:gdLst/>
            <a:ahLst/>
            <a:cxnLst/>
            <a:rect l="0" t="0" r="0" b="0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91" name="Shape 91"/>
          <p:cNvSpPr/>
          <p:nvPr/>
        </p:nvSpPr>
        <p:spPr>
          <a:xfrm flipH="1">
            <a:off x="-903537" y="-20538"/>
            <a:ext cx="1759200" cy="752077"/>
          </a:xfrm>
          <a:prstGeom prst="parallelogram">
            <a:avLst>
              <a:gd name="adj" fmla="val 51542"/>
            </a:avLst>
          </a:prstGeom>
          <a:solidFill>
            <a:srgbClr val="294667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2" name="Shape 92"/>
          <p:cNvSpPr/>
          <p:nvPr/>
        </p:nvSpPr>
        <p:spPr>
          <a:xfrm flipH="1">
            <a:off x="453200" y="-20539"/>
            <a:ext cx="518400" cy="752077"/>
          </a:xfrm>
          <a:prstGeom prst="parallelogram">
            <a:avLst>
              <a:gd name="adj" fmla="val 75009"/>
            </a:avLst>
          </a:prstGeom>
          <a:solidFill>
            <a:srgbClr val="FFA8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" name="Shape 39"/>
          <p:cNvSpPr txBox="1">
            <a:spLocks noGrp="1"/>
          </p:cNvSpPr>
          <p:nvPr>
            <p:ph type="sldNum" idx="12"/>
          </p:nvPr>
        </p:nvSpPr>
        <p:spPr>
          <a:xfrm>
            <a:off x="0" y="-20476"/>
            <a:ext cx="594900" cy="731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‹n°›</a:t>
            </a:fld>
            <a:endParaRPr lang="en" dirty="0"/>
          </a:p>
        </p:txBody>
      </p:sp>
      <p:sp>
        <p:nvSpPr>
          <p:cNvPr id="13" name="Shape 38"/>
          <p:cNvSpPr txBox="1">
            <a:spLocks noGrp="1"/>
          </p:cNvSpPr>
          <p:nvPr>
            <p:ph type="body" idx="1"/>
          </p:nvPr>
        </p:nvSpPr>
        <p:spPr>
          <a:xfrm>
            <a:off x="1104900" y="987575"/>
            <a:ext cx="7581900" cy="3866156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9436629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9"/>
          <p:cNvSpPr txBox="1">
            <a:spLocks noGrp="1"/>
          </p:cNvSpPr>
          <p:nvPr>
            <p:ph type="sldNum" idx="12"/>
          </p:nvPr>
        </p:nvSpPr>
        <p:spPr>
          <a:xfrm>
            <a:off x="8686800" y="4803998"/>
            <a:ext cx="457200" cy="313165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‹n°›</a:t>
            </a:fld>
            <a:endParaRPr lang="en" dirty="0"/>
          </a:p>
        </p:txBody>
      </p:sp>
      <p:sp>
        <p:nvSpPr>
          <p:cNvPr id="6" name="Shape 38"/>
          <p:cNvSpPr txBox="1">
            <a:spLocks noGrp="1"/>
          </p:cNvSpPr>
          <p:nvPr>
            <p:ph type="body" idx="1"/>
          </p:nvPr>
        </p:nvSpPr>
        <p:spPr>
          <a:xfrm>
            <a:off x="1104900" y="987575"/>
            <a:ext cx="7581900" cy="367240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800">
                <a:latin typeface="Calibri" panose="020F0502020204030204" pitchFamily="34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0" name="Shape 37">
            <a:extLst>
              <a:ext uri="{FF2B5EF4-FFF2-40B4-BE49-F238E27FC236}">
                <a16:creationId xmlns:a16="http://schemas.microsoft.com/office/drawing/2014/main" id="{AA2F9D67-C019-2548-9891-CA161B3A26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52" y="-16174"/>
            <a:ext cx="7159565" cy="747712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1147812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90">
            <a:extLst>
              <a:ext uri="{FF2B5EF4-FFF2-40B4-BE49-F238E27FC236}">
                <a16:creationId xmlns:a16="http://schemas.microsoft.com/office/drawing/2014/main" id="{E4C06312-502C-3E4A-B326-706837FF7FF0}"/>
              </a:ext>
            </a:extLst>
          </p:cNvPr>
          <p:cNvSpPr/>
          <p:nvPr userDrawn="1"/>
        </p:nvSpPr>
        <p:spPr>
          <a:xfrm>
            <a:off x="-36512" y="-20538"/>
            <a:ext cx="3257550" cy="5256584"/>
          </a:xfrm>
          <a:custGeom>
            <a:avLst/>
            <a:gdLst/>
            <a:ahLst/>
            <a:cxnLst/>
            <a:rect l="0" t="0" r="0" b="0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6" name="Shape 38"/>
          <p:cNvSpPr txBox="1">
            <a:spLocks noGrp="1"/>
          </p:cNvSpPr>
          <p:nvPr>
            <p:ph type="body" idx="1"/>
          </p:nvPr>
        </p:nvSpPr>
        <p:spPr>
          <a:xfrm>
            <a:off x="1104900" y="987575"/>
            <a:ext cx="7581900" cy="367240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800">
                <a:latin typeface="Calibri" panose="020F0502020204030204" pitchFamily="34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39">
            <a:extLst>
              <a:ext uri="{FF2B5EF4-FFF2-40B4-BE49-F238E27FC236}">
                <a16:creationId xmlns:a16="http://schemas.microsoft.com/office/drawing/2014/main" id="{D1C8969C-0A10-C14B-9AD2-8EA07EA502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86800" y="4803998"/>
            <a:ext cx="457200" cy="313165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‹n°›</a:t>
            </a:fld>
            <a:endParaRPr lang="en" dirty="0"/>
          </a:p>
        </p:txBody>
      </p:sp>
      <p:sp>
        <p:nvSpPr>
          <p:cNvPr id="10" name="Shape 37">
            <a:extLst>
              <a:ext uri="{FF2B5EF4-FFF2-40B4-BE49-F238E27FC236}">
                <a16:creationId xmlns:a16="http://schemas.microsoft.com/office/drawing/2014/main" id="{01AF1168-4E9E-7845-B9E8-7274D2D2F1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52" y="-16174"/>
            <a:ext cx="7159565" cy="747712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8851796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"/>
          <p:cNvSpPr txBox="1">
            <a:spLocks noGrp="1"/>
          </p:cNvSpPr>
          <p:nvPr>
            <p:ph type="body" idx="1"/>
          </p:nvPr>
        </p:nvSpPr>
        <p:spPr>
          <a:xfrm>
            <a:off x="1104900" y="987575"/>
            <a:ext cx="7581900" cy="3866156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8794694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04900" y="1200150"/>
            <a:ext cx="7581900" cy="3725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FF8700"/>
              </a:buClr>
              <a:buSzPct val="100000"/>
              <a:buFont typeface="Roboto"/>
              <a:buChar char="▸"/>
              <a:defRPr sz="30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480"/>
              </a:spcBef>
              <a:buClr>
                <a:srgbClr val="FF8700"/>
              </a:buClr>
              <a:buSzPct val="100000"/>
              <a:buFont typeface="Roboto"/>
              <a:buChar char="▹"/>
              <a:defRPr sz="24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480"/>
              </a:spcBef>
              <a:buClr>
                <a:srgbClr val="FF8700"/>
              </a:buClr>
              <a:buSzPct val="100000"/>
              <a:buFont typeface="Roboto"/>
              <a:buChar char="▹"/>
              <a:defRPr sz="24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fld id="{00000000-1234-1234-1234-123412341234}" type="slidenum">
              <a:rPr lang="en" sz="13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‹n°›</a:t>
            </a:fld>
            <a:endParaRPr lang="en" sz="13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3" r:id="rId2"/>
    <p:sldLayoutId id="2147483665" r:id="rId3"/>
    <p:sldLayoutId id="2147483660" r:id="rId4"/>
    <p:sldLayoutId id="2147483666" r:id="rId5"/>
    <p:sldLayoutId id="2147483664" r:id="rId6"/>
  </p:sldLayoutIdLst>
  <p:transition spd="slow">
    <p:push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www.remix3d.com/details/ce56cd3cfb6246d887492d0aea7b7b7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5656" y="411510"/>
            <a:ext cx="4680520" cy="1753481"/>
          </a:xfrm>
          <a:ln>
            <a:solidFill>
              <a:srgbClr val="26394E"/>
            </a:solidFill>
          </a:ln>
        </p:spPr>
        <p:txBody>
          <a:bodyPr/>
          <a:lstStyle/>
          <a:p>
            <a:pPr algn="r"/>
            <a:r>
              <a:rPr lang="en-CA" sz="4400" dirty="0">
                <a:solidFill>
                  <a:schemeClr val="bg1"/>
                </a:solidFill>
                <a:latin typeface="Dosis" panose="02010503020202060003" pitchFamily="2" charset="77"/>
              </a:rPr>
              <a:t>ZNF768</a:t>
            </a:r>
            <a:br>
              <a:rPr lang="en-CA" sz="4400" dirty="0">
                <a:solidFill>
                  <a:schemeClr val="bg1"/>
                </a:solidFill>
                <a:latin typeface="Dosis" panose="02010503020202060003" pitchFamily="2" charset="77"/>
              </a:rPr>
            </a:br>
            <a:r>
              <a:rPr lang="en-CA" sz="4400" dirty="0" err="1">
                <a:solidFill>
                  <a:schemeClr val="bg1"/>
                </a:solidFill>
                <a:latin typeface="Dosis" panose="02010503020202060003" pitchFamily="2" charset="77"/>
              </a:rPr>
              <a:t>ChIP</a:t>
            </a:r>
            <a:r>
              <a:rPr lang="en-CA" sz="4400" dirty="0">
                <a:solidFill>
                  <a:schemeClr val="bg1"/>
                </a:solidFill>
                <a:latin typeface="Dosis" panose="02010503020202060003" pitchFamily="2" charset="77"/>
              </a:rPr>
              <a:t>-seq analysis</a:t>
            </a:r>
            <a:endParaRPr lang="en-CA" sz="4800" dirty="0">
              <a:solidFill>
                <a:schemeClr val="bg1"/>
              </a:solidFill>
              <a:latin typeface="Dosis" panose="02010503020202060003" pitchFamily="2" charset="77"/>
            </a:endParaRPr>
          </a:p>
        </p:txBody>
      </p:sp>
      <p:sp>
        <p:nvSpPr>
          <p:cNvPr id="22" name="Sous-titre 2"/>
          <p:cNvSpPr txBox="1">
            <a:spLocks/>
          </p:cNvSpPr>
          <p:nvPr/>
        </p:nvSpPr>
        <p:spPr>
          <a:xfrm>
            <a:off x="5580112" y="2643758"/>
            <a:ext cx="332080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buClr>
                <a:srgbClr val="3494BA"/>
              </a:buClr>
            </a:pPr>
            <a:r>
              <a:rPr lang="fr-FR" sz="1400" b="1" dirty="0">
                <a:solidFill>
                  <a:srgbClr val="FFC000"/>
                </a:solidFill>
                <a:latin typeface="Calibri Light" panose="020F0302020204030204"/>
              </a:rPr>
              <a:t>UPDATE</a:t>
            </a:r>
          </a:p>
          <a:p>
            <a:pPr algn="r">
              <a:buClr>
                <a:srgbClr val="3494BA"/>
              </a:buClr>
            </a:pPr>
            <a:r>
              <a:rPr lang="fr-FR" sz="1100" b="1" dirty="0" err="1">
                <a:solidFill>
                  <a:schemeClr val="bg1"/>
                </a:solidFill>
                <a:latin typeface="Calibri Light" panose="020F0302020204030204"/>
              </a:rPr>
              <a:t>December</a:t>
            </a:r>
            <a:r>
              <a:rPr lang="fr-FR" sz="1100" b="1" dirty="0">
                <a:solidFill>
                  <a:schemeClr val="bg1"/>
                </a:solidFill>
                <a:latin typeface="Calibri Light" panose="020F0302020204030204"/>
              </a:rPr>
              <a:t> 16th</a:t>
            </a:r>
            <a:r>
              <a:rPr kumimoji="0" lang="fr-FR" sz="1100" b="1" i="0" u="none" strike="noStrike" kern="1200" cap="all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</a:rPr>
              <a:t>, 2025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Modèle 3D 6" descr="DNA">
                <a:extLst>
                  <a:ext uri="{FF2B5EF4-FFF2-40B4-BE49-F238E27FC236}">
                    <a16:creationId xmlns:a16="http://schemas.microsoft.com/office/drawing/2014/main" id="{11E90E84-82FB-AB47-9C1E-C0B1BDE21D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028890" y="411509"/>
              <a:ext cx="783470" cy="175348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783470" cy="1753482"/>
                    </a:xfrm>
                    <a:prstGeom prst="rect">
                      <a:avLst/>
                    </a:prstGeom>
                  </am3d:spPr>
                  <am3d:camera>
                    <am3d:pos x="0" y="0" z="5277897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181324" d="1000000"/>
                    <am3d:preTrans dx="-3800949" dy="-1132557" dz="-20103087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attrSrcUrl r:id="rId4"/>
                  <am3d:raster rName="Office3DRenderer" rVer="16.0.8326">
                    <am3d:blip r:embed="rId5"/>
                  </am3d:raster>
                  <am3d:objViewport viewportSz="19897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Modèle 3D 6" descr="DNA">
                <a:extLst>
                  <a:ext uri="{FF2B5EF4-FFF2-40B4-BE49-F238E27FC236}">
                    <a16:creationId xmlns:a16="http://schemas.microsoft.com/office/drawing/2014/main" id="{11E90E84-82FB-AB47-9C1E-C0B1BDE21D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28890" y="411509"/>
                <a:ext cx="783470" cy="1753482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ous-titre 2">
            <a:extLst>
              <a:ext uri="{FF2B5EF4-FFF2-40B4-BE49-F238E27FC236}">
                <a16:creationId xmlns:a16="http://schemas.microsoft.com/office/drawing/2014/main" id="{A52B18A8-7845-CAF4-6C79-D19A177AFA58}"/>
              </a:ext>
            </a:extLst>
          </p:cNvPr>
          <p:cNvSpPr txBox="1">
            <a:spLocks/>
          </p:cNvSpPr>
          <p:nvPr/>
        </p:nvSpPr>
        <p:spPr>
          <a:xfrm>
            <a:off x="1403648" y="2643758"/>
            <a:ext cx="562524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494BA"/>
              </a:buClr>
            </a:pPr>
            <a:r>
              <a:rPr lang="fr-FR" sz="1600" b="1" dirty="0">
                <a:solidFill>
                  <a:srgbClr val="FFC000"/>
                </a:solidFill>
                <a:latin typeface="Calibri Light" panose="020F0302020204030204"/>
              </a:rPr>
              <a:t>Christophe TAV, </a:t>
            </a:r>
            <a:r>
              <a:rPr lang="fr-FR" sz="1600" b="1" dirty="0" err="1">
                <a:solidFill>
                  <a:srgbClr val="FFC000"/>
                </a:solidFill>
                <a:latin typeface="Calibri Light" panose="020F0302020204030204"/>
              </a:rPr>
              <a:t>phd</a:t>
            </a:r>
            <a:endParaRPr lang="fr-FR" sz="1600" b="1" dirty="0">
              <a:solidFill>
                <a:srgbClr val="FFC000"/>
              </a:solidFill>
              <a:latin typeface="Calibri Light" panose="020F0302020204030204"/>
            </a:endParaRPr>
          </a:p>
          <a:p>
            <a:pPr>
              <a:buClr>
                <a:srgbClr val="3494BA"/>
              </a:buClr>
            </a:pPr>
            <a:r>
              <a:rPr lang="fr-FR" sz="1100" b="1" dirty="0" err="1">
                <a:solidFill>
                  <a:schemeClr val="bg1"/>
                </a:solidFill>
                <a:latin typeface="Calibri Light" panose="020F0302020204030204"/>
              </a:rPr>
              <a:t>Bioinformatic</a:t>
            </a:r>
            <a:r>
              <a:rPr lang="fr-FR" sz="1100" b="1" dirty="0">
                <a:solidFill>
                  <a:schemeClr val="bg1"/>
                </a:solidFill>
                <a:latin typeface="Calibri Light" panose="020F0302020204030204"/>
              </a:rPr>
              <a:t> platform</a:t>
            </a:r>
          </a:p>
          <a:p>
            <a:pPr>
              <a:buClr>
                <a:srgbClr val="3494BA"/>
              </a:buClr>
            </a:pPr>
            <a:r>
              <a:rPr lang="fr-FR" sz="1100" b="1" dirty="0">
                <a:solidFill>
                  <a:schemeClr val="bg1"/>
                </a:solidFill>
                <a:latin typeface="Calibri Light" panose="020F0302020204030204"/>
              </a:rPr>
              <a:t>Centre de recherche du CHU de </a:t>
            </a:r>
            <a:r>
              <a:rPr lang="fr-FR" sz="1100" b="1" dirty="0" err="1">
                <a:solidFill>
                  <a:schemeClr val="bg1"/>
                </a:solidFill>
                <a:latin typeface="Calibri Light" panose="020F0302020204030204"/>
              </a:rPr>
              <a:t>québec</a:t>
            </a:r>
            <a:r>
              <a:rPr lang="fr-FR" sz="1100" b="1" dirty="0">
                <a:solidFill>
                  <a:schemeClr val="bg1"/>
                </a:solidFill>
                <a:latin typeface="Calibri Light" panose="020F0302020204030204"/>
              </a:rPr>
              <a:t> – Université Laval</a:t>
            </a:r>
          </a:p>
        </p:txBody>
      </p:sp>
    </p:spTree>
    <p:extLst>
      <p:ext uri="{BB962C8B-B14F-4D97-AF65-F5344CB8AC3E}">
        <p14:creationId xmlns:p14="http://schemas.microsoft.com/office/powerpoint/2010/main" val="181654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86980-2B2F-5E2C-948D-2D8F52808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CAA77E36-F2B0-9BD2-24C2-ADDCCDF77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2251"/>
            <a:ext cx="7772400" cy="4411034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C695C0B-4BE9-1DB4-2702-AC7209772D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5C2072A-3010-6EBC-7892-D88BDCA39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16174"/>
            <a:ext cx="8147248" cy="747712"/>
          </a:xfrm>
        </p:spPr>
        <p:txBody>
          <a:bodyPr/>
          <a:lstStyle/>
          <a:p>
            <a:r>
              <a:rPr lang="fr-FR" dirty="0"/>
              <a:t>E2F1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1A328F-8150-6331-15AA-BFD1559A5190}"/>
              </a:ext>
            </a:extLst>
          </p:cNvPr>
          <p:cNvSpPr/>
          <p:nvPr/>
        </p:nvSpPr>
        <p:spPr>
          <a:xfrm>
            <a:off x="5868144" y="731538"/>
            <a:ext cx="226368" cy="4023397"/>
          </a:xfrm>
          <a:prstGeom prst="rect">
            <a:avLst/>
          </a:prstGeom>
          <a:solidFill>
            <a:srgbClr val="20BF54">
              <a:alpha val="198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9DC09D-8FBF-545A-6C26-499D2A525AAB}"/>
              </a:ext>
            </a:extLst>
          </p:cNvPr>
          <p:cNvSpPr/>
          <p:nvPr/>
        </p:nvSpPr>
        <p:spPr>
          <a:xfrm>
            <a:off x="6516216" y="731538"/>
            <a:ext cx="226368" cy="4023396"/>
          </a:xfrm>
          <a:prstGeom prst="rect">
            <a:avLst/>
          </a:prstGeom>
          <a:solidFill>
            <a:srgbClr val="20BF5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312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F02FE-4B04-61C5-933F-4CCF2864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6C03D48-16A4-9097-6354-7A13FFF13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567374"/>
            <a:ext cx="7772400" cy="4323189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ECD437E-180F-5DAB-4D3C-959D5EF36D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0170273-C164-D8E1-5E5E-D1BDE07C6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16174"/>
            <a:ext cx="8147248" cy="747712"/>
          </a:xfrm>
        </p:spPr>
        <p:txBody>
          <a:bodyPr/>
          <a:lstStyle/>
          <a:p>
            <a:r>
              <a:rPr lang="fr-FR" dirty="0"/>
              <a:t>E2F2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9FB81-9CD6-A1E3-2072-4C35C69E5A1D}"/>
              </a:ext>
            </a:extLst>
          </p:cNvPr>
          <p:cNvSpPr/>
          <p:nvPr/>
        </p:nvSpPr>
        <p:spPr>
          <a:xfrm>
            <a:off x="4345632" y="617572"/>
            <a:ext cx="154360" cy="4023397"/>
          </a:xfrm>
          <a:prstGeom prst="rect">
            <a:avLst/>
          </a:prstGeom>
          <a:solidFill>
            <a:srgbClr val="20BF54">
              <a:alpha val="198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703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illiam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24314</TotalTime>
  <Words>29</Words>
  <Application>Microsoft Macintosh PowerPoint</Application>
  <PresentationFormat>Affichage à l'écran (16:9)</PresentationFormat>
  <Paragraphs>10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Dosis</vt:lpstr>
      <vt:lpstr>Roboto</vt:lpstr>
      <vt:lpstr>William template</vt:lpstr>
      <vt:lpstr>ZNF768 ChIP-seq analysis</vt:lpstr>
      <vt:lpstr>E2F1</vt:lpstr>
      <vt:lpstr>E2F2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Microbial community profiling of human skin microbiome in atopic dermatitis</dc:title>
  <dc:creator>Tav, Christophe /FR</dc:creator>
  <cp:lastModifiedBy>Christophe Tav</cp:lastModifiedBy>
  <cp:revision>2119</cp:revision>
  <cp:lastPrinted>2020-08-24T18:31:03Z</cp:lastPrinted>
  <dcterms:modified xsi:type="dcterms:W3CDTF">2025-12-16T16:11:02Z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